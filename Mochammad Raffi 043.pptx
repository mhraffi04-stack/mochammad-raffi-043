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onsolas" charset="1" panose="020B0609020204030204"/>
      <p:regular r:id="rId15"/>
    </p:embeddedFont>
    <p:embeddedFont>
      <p:font typeface="Consolas Bold" charset="1" panose="020B0709020204030204"/>
      <p:regular r:id="rId16"/>
    </p:embeddedFont>
    <p:embeddedFont>
      <p:font typeface="Poppins Bold" charset="1" panose="00000800000000000000"/>
      <p:regular r:id="rId17"/>
    </p:embeddedFont>
    <p:embeddedFont>
      <p:font typeface="Inter Bold" charset="1" panose="020B0802030000000004"/>
      <p:regular r:id="rId18"/>
    </p:embeddedFont>
    <p:embeddedFont>
      <p:font typeface="Inter" charset="1" panose="020B0502030000000004"/>
      <p:regular r:id="rId19"/>
    </p:embeddedFont>
    <p:embeddedFont>
      <p:font typeface="Poppin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5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96" r="0" b="-929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563629"/>
            <a:ext cx="18288000" cy="5744281"/>
            <a:chOff x="0" y="0"/>
            <a:chExt cx="4816593" cy="15128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512897"/>
            </a:xfrm>
            <a:custGeom>
              <a:avLst/>
              <a:gdLst/>
              <a:ahLst/>
              <a:cxnLst/>
              <a:rect r="r" b="b" t="t" l="l"/>
              <a:pathLst>
                <a:path h="151289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12897"/>
                  </a:lnTo>
                  <a:lnTo>
                    <a:pt x="0" y="1512897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1560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2777326">
            <a:off x="-4032160" y="2737811"/>
            <a:ext cx="9787222" cy="10226091"/>
          </a:xfrm>
          <a:custGeom>
            <a:avLst/>
            <a:gdLst/>
            <a:ahLst/>
            <a:cxnLst/>
            <a:rect r="r" b="b" t="t" l="l"/>
            <a:pathLst>
              <a:path h="10226091" w="9787222">
                <a:moveTo>
                  <a:pt x="9787221" y="0"/>
                </a:moveTo>
                <a:lnTo>
                  <a:pt x="0" y="0"/>
                </a:lnTo>
                <a:lnTo>
                  <a:pt x="0" y="10226091"/>
                </a:lnTo>
                <a:lnTo>
                  <a:pt x="9787221" y="10226091"/>
                </a:lnTo>
                <a:lnTo>
                  <a:pt x="9787221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171700" y="1028700"/>
            <a:ext cx="2270820" cy="770356"/>
            <a:chOff x="0" y="0"/>
            <a:chExt cx="598076" cy="2028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8076" cy="202892"/>
            </a:xfrm>
            <a:custGeom>
              <a:avLst/>
              <a:gdLst/>
              <a:ahLst/>
              <a:cxnLst/>
              <a:rect r="r" b="b" t="t" l="l"/>
              <a:pathLst>
                <a:path h="202892" w="598076">
                  <a:moveTo>
                    <a:pt x="101446" y="0"/>
                  </a:moveTo>
                  <a:lnTo>
                    <a:pt x="496630" y="0"/>
                  </a:lnTo>
                  <a:cubicBezTo>
                    <a:pt x="552657" y="0"/>
                    <a:pt x="598076" y="45419"/>
                    <a:pt x="598076" y="101446"/>
                  </a:cubicBezTo>
                  <a:lnTo>
                    <a:pt x="598076" y="101446"/>
                  </a:lnTo>
                  <a:cubicBezTo>
                    <a:pt x="598076" y="157473"/>
                    <a:pt x="552657" y="202892"/>
                    <a:pt x="496630" y="202892"/>
                  </a:cubicBezTo>
                  <a:lnTo>
                    <a:pt x="101446" y="202892"/>
                  </a:lnTo>
                  <a:cubicBezTo>
                    <a:pt x="45419" y="202892"/>
                    <a:pt x="0" y="157473"/>
                    <a:pt x="0" y="101446"/>
                  </a:cubicBezTo>
                  <a:lnTo>
                    <a:pt x="0" y="101446"/>
                  </a:lnTo>
                  <a:cubicBezTo>
                    <a:pt x="0" y="45419"/>
                    <a:pt x="45419" y="0"/>
                    <a:pt x="101446" y="0"/>
                  </a:cubicBezTo>
                  <a:close/>
                </a:path>
              </a:pathLst>
            </a:custGeom>
            <a:ln w="28575" cap="rnd">
              <a:solidFill>
                <a:srgbClr val="42174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598076" cy="298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42174E"/>
                  </a:solidFill>
                  <a:latin typeface="Consolas"/>
                  <a:ea typeface="Consolas"/>
                  <a:cs typeface="Consolas"/>
                  <a:sym typeface="Consolas"/>
                </a:rPr>
                <a:t>PRESENTS: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312524" y="6221082"/>
            <a:ext cx="722473" cy="722473"/>
          </a:xfrm>
          <a:custGeom>
            <a:avLst/>
            <a:gdLst/>
            <a:ahLst/>
            <a:cxnLst/>
            <a:rect r="r" b="b" t="t" l="l"/>
            <a:pathLst>
              <a:path h="722473" w="722473">
                <a:moveTo>
                  <a:pt x="0" y="0"/>
                </a:moveTo>
                <a:lnTo>
                  <a:pt x="722473" y="0"/>
                </a:lnTo>
                <a:lnTo>
                  <a:pt x="722473" y="722474"/>
                </a:lnTo>
                <a:lnTo>
                  <a:pt x="0" y="7224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9034997" y="6764962"/>
            <a:ext cx="6404762" cy="1085895"/>
            <a:chOff x="0" y="0"/>
            <a:chExt cx="1686851" cy="2859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86851" cy="285997"/>
            </a:xfrm>
            <a:custGeom>
              <a:avLst/>
              <a:gdLst/>
              <a:ahLst/>
              <a:cxnLst/>
              <a:rect r="r" b="b" t="t" l="l"/>
              <a:pathLst>
                <a:path h="285997" w="1686851">
                  <a:moveTo>
                    <a:pt x="120878" y="0"/>
                  </a:moveTo>
                  <a:lnTo>
                    <a:pt x="1565973" y="0"/>
                  </a:lnTo>
                  <a:cubicBezTo>
                    <a:pt x="1632732" y="0"/>
                    <a:pt x="1686851" y="54119"/>
                    <a:pt x="1686851" y="120878"/>
                  </a:cubicBezTo>
                  <a:lnTo>
                    <a:pt x="1686851" y="165119"/>
                  </a:lnTo>
                  <a:cubicBezTo>
                    <a:pt x="1686851" y="231878"/>
                    <a:pt x="1632732" y="285997"/>
                    <a:pt x="1565973" y="285997"/>
                  </a:cubicBezTo>
                  <a:lnTo>
                    <a:pt x="120878" y="285997"/>
                  </a:lnTo>
                  <a:cubicBezTo>
                    <a:pt x="54119" y="285997"/>
                    <a:pt x="0" y="231878"/>
                    <a:pt x="0" y="165119"/>
                  </a:cubicBezTo>
                  <a:lnTo>
                    <a:pt x="0" y="120878"/>
                  </a:lnTo>
                  <a:cubicBezTo>
                    <a:pt x="0" y="54119"/>
                    <a:pt x="54119" y="0"/>
                    <a:pt x="12087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60000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50500"/>
                  </a:srgbClr>
                </a:gs>
              </a:gsLst>
              <a:lin ang="0"/>
            </a:gra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FFFFF">
                      <a:alpha val="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686851" cy="343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138088" y="7850857"/>
            <a:ext cx="6011824" cy="770356"/>
            <a:chOff x="0" y="0"/>
            <a:chExt cx="1583361" cy="2028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83361" cy="202892"/>
            </a:xfrm>
            <a:custGeom>
              <a:avLst/>
              <a:gdLst/>
              <a:ahLst/>
              <a:cxnLst/>
              <a:rect r="r" b="b" t="t" l="l"/>
              <a:pathLst>
                <a:path h="202892" w="1583361">
                  <a:moveTo>
                    <a:pt x="101446" y="0"/>
                  </a:moveTo>
                  <a:lnTo>
                    <a:pt x="1481915" y="0"/>
                  </a:lnTo>
                  <a:cubicBezTo>
                    <a:pt x="1537942" y="0"/>
                    <a:pt x="1583361" y="45419"/>
                    <a:pt x="1583361" y="101446"/>
                  </a:cubicBezTo>
                  <a:lnTo>
                    <a:pt x="1583361" y="101446"/>
                  </a:lnTo>
                  <a:cubicBezTo>
                    <a:pt x="1583361" y="157473"/>
                    <a:pt x="1537942" y="202892"/>
                    <a:pt x="1481915" y="202892"/>
                  </a:cubicBezTo>
                  <a:lnTo>
                    <a:pt x="101446" y="202892"/>
                  </a:lnTo>
                  <a:cubicBezTo>
                    <a:pt x="45419" y="202892"/>
                    <a:pt x="0" y="157473"/>
                    <a:pt x="0" y="101446"/>
                  </a:cubicBezTo>
                  <a:lnTo>
                    <a:pt x="0" y="101446"/>
                  </a:lnTo>
                  <a:cubicBezTo>
                    <a:pt x="0" y="45419"/>
                    <a:pt x="45419" y="0"/>
                    <a:pt x="101446" y="0"/>
                  </a:cubicBezTo>
                  <a:close/>
                </a:path>
              </a:pathLst>
            </a:custGeom>
            <a:solidFill>
              <a:srgbClr val="6483F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14300"/>
              <a:ext cx="1583361" cy="317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MOCHAMMAD RAFFI, 1412260043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613632" y="2060768"/>
            <a:ext cx="10656853" cy="252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66"/>
              </a:lnSpc>
              <a:spcBef>
                <a:spcPct val="0"/>
              </a:spcBef>
            </a:pPr>
            <a:r>
              <a:rPr lang="en-US" b="true" sz="7047" spc="-352">
                <a:solidFill>
                  <a:srgbClr val="6483F0"/>
                </a:solidFill>
                <a:latin typeface="Poppins Bold"/>
                <a:ea typeface="Poppins Bold"/>
                <a:cs typeface="Poppins Bold"/>
                <a:sym typeface="Poppins Bold"/>
              </a:rPr>
              <a:t>Mengenal GitHub, Open-Source,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23472" y="4343848"/>
            <a:ext cx="13102190" cy="1380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03"/>
              </a:lnSpc>
              <a:spcBef>
                <a:spcPct val="0"/>
              </a:spcBef>
            </a:pPr>
            <a:r>
              <a:rPr lang="en-US" b="true" sz="7645" spc="-382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dan AI dalam</a:t>
            </a:r>
            <a:r>
              <a:rPr lang="en-US" b="true" sz="7645" spc="-382" strike="noStrike" u="non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7645" spc="-382" strike="noStrike" u="non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7645" spc="-382" strike="noStrike" u="non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7645" spc="-382" strike="noStrike" u="non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posi</a:t>
            </a:r>
            <a:r>
              <a:rPr lang="en-US" b="true" sz="7645" spc="-382" strike="noStrike" u="non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7645" spc="-382" strike="noStrike" u="non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7645" spc="-382" strike="noStrike" u="non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7645" spc="-382" strike="noStrike" u="non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y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270485" y="-2541412"/>
            <a:ext cx="7142621" cy="7462904"/>
          </a:xfrm>
          <a:custGeom>
            <a:avLst/>
            <a:gdLst/>
            <a:ahLst/>
            <a:cxnLst/>
            <a:rect r="r" b="b" t="t" l="l"/>
            <a:pathLst>
              <a:path h="7462904" w="7142621">
                <a:moveTo>
                  <a:pt x="0" y="0"/>
                </a:moveTo>
                <a:lnTo>
                  <a:pt x="7142621" y="0"/>
                </a:lnTo>
                <a:lnTo>
                  <a:pt x="7142621" y="7462904"/>
                </a:lnTo>
                <a:lnTo>
                  <a:pt x="0" y="74629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00733" y="1113840"/>
            <a:ext cx="1070967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tru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96" r="0" b="-92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526372" y="-1837117"/>
            <a:ext cx="9787222" cy="10226091"/>
          </a:xfrm>
          <a:custGeom>
            <a:avLst/>
            <a:gdLst/>
            <a:ahLst/>
            <a:cxnLst/>
            <a:rect r="r" b="b" t="t" l="l"/>
            <a:pathLst>
              <a:path h="10226091" w="9787222">
                <a:moveTo>
                  <a:pt x="0" y="0"/>
                </a:moveTo>
                <a:lnTo>
                  <a:pt x="9787222" y="0"/>
                </a:lnTo>
                <a:lnTo>
                  <a:pt x="9787222" y="10226092"/>
                </a:lnTo>
                <a:lnTo>
                  <a:pt x="0" y="10226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7511" y="8499156"/>
            <a:ext cx="4488312" cy="3575688"/>
          </a:xfrm>
          <a:custGeom>
            <a:avLst/>
            <a:gdLst/>
            <a:ahLst/>
            <a:cxnLst/>
            <a:rect r="r" b="b" t="t" l="l"/>
            <a:pathLst>
              <a:path h="3575688" w="4488312">
                <a:moveTo>
                  <a:pt x="0" y="0"/>
                </a:moveTo>
                <a:lnTo>
                  <a:pt x="4488312" y="0"/>
                </a:lnTo>
                <a:lnTo>
                  <a:pt x="4488312" y="3575688"/>
                </a:lnTo>
                <a:lnTo>
                  <a:pt x="0" y="3575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43075" y="427594"/>
            <a:ext cx="15516225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99"/>
              </a:lnSpc>
              <a:spcBef>
                <a:spcPct val="0"/>
              </a:spcBef>
            </a:pPr>
            <a:r>
              <a:rPr lang="en-US" b="true" sz="9000" spc="-450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Apa</a:t>
            </a:r>
            <a:r>
              <a:rPr lang="en-US" b="true" sz="9000" spc="-450" strike="noStrike" u="non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 Itu Git</a:t>
            </a:r>
            <a:r>
              <a:rPr lang="en-US" b="true" sz="9000" spc="-450" strike="noStrike" u="non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Hub?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279520" y="8993876"/>
            <a:ext cx="528849" cy="528849"/>
          </a:xfrm>
          <a:custGeom>
            <a:avLst/>
            <a:gdLst/>
            <a:ahLst/>
            <a:cxnLst/>
            <a:rect r="r" b="b" t="t" l="l"/>
            <a:pathLst>
              <a:path h="528849" w="528849">
                <a:moveTo>
                  <a:pt x="0" y="0"/>
                </a:moveTo>
                <a:lnTo>
                  <a:pt x="528849" y="0"/>
                </a:lnTo>
                <a:lnTo>
                  <a:pt x="528849" y="528848"/>
                </a:lnTo>
                <a:lnTo>
                  <a:pt x="0" y="528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4688101" y="2741696"/>
            <a:ext cx="9626174" cy="6252180"/>
            <a:chOff x="0" y="0"/>
            <a:chExt cx="12834898" cy="833623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2834898" cy="8336239"/>
              <a:chOff x="0" y="0"/>
              <a:chExt cx="2535289" cy="164666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535289" cy="1646665"/>
              </a:xfrm>
              <a:custGeom>
                <a:avLst/>
                <a:gdLst/>
                <a:ahLst/>
                <a:cxnLst/>
                <a:rect r="r" b="b" t="t" l="l"/>
                <a:pathLst>
                  <a:path h="1646665" w="2535289">
                    <a:moveTo>
                      <a:pt x="48255" y="0"/>
                    </a:moveTo>
                    <a:lnTo>
                      <a:pt x="2487033" y="0"/>
                    </a:lnTo>
                    <a:cubicBezTo>
                      <a:pt x="2513684" y="0"/>
                      <a:pt x="2535289" y="21605"/>
                      <a:pt x="2535289" y="48255"/>
                    </a:cubicBezTo>
                    <a:lnTo>
                      <a:pt x="2535289" y="1598409"/>
                    </a:lnTo>
                    <a:cubicBezTo>
                      <a:pt x="2535289" y="1625060"/>
                      <a:pt x="2513684" y="1646665"/>
                      <a:pt x="2487033" y="1646665"/>
                    </a:cubicBezTo>
                    <a:lnTo>
                      <a:pt x="48255" y="1646665"/>
                    </a:lnTo>
                    <a:cubicBezTo>
                      <a:pt x="21605" y="1646665"/>
                      <a:pt x="0" y="1625060"/>
                      <a:pt x="0" y="1598409"/>
                    </a:cubicBezTo>
                    <a:lnTo>
                      <a:pt x="0" y="48255"/>
                    </a:lnTo>
                    <a:cubicBezTo>
                      <a:pt x="0" y="21605"/>
                      <a:pt x="21605" y="0"/>
                      <a:pt x="4825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2535289" cy="16942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760123" y="5357948"/>
              <a:ext cx="9233432" cy="16427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399">
                  <a:solidFill>
                    <a:srgbClr val="42174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Contoh: </a:t>
              </a:r>
              <a:r>
                <a:rPr lang="en-US" sz="2399">
                  <a:solidFill>
                    <a:srgbClr val="42174E"/>
                  </a:solidFill>
                  <a:latin typeface="Inter"/>
                  <a:ea typeface="Inter"/>
                  <a:cs typeface="Inter"/>
                  <a:sym typeface="Inter"/>
                </a:rPr>
                <a:t>Mahasiswa mengunggah</a:t>
              </a:r>
              <a:r>
                <a:rPr lang="en-US" sz="2399">
                  <a:solidFill>
                    <a:srgbClr val="42174E"/>
                  </a:solidFill>
                  <a:latin typeface="Inter"/>
                  <a:ea typeface="Inter"/>
                  <a:cs typeface="Inter"/>
                  <a:sym typeface="Inter"/>
                </a:rPr>
                <a:t> tugas pemrograman ke GitHub agar mudah diakses dan dikembangkan kembali.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760123" y="1127733"/>
              <a:ext cx="11314653" cy="4052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6532" indent="-268266" lvl="1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42174E"/>
                  </a:solidFill>
                  <a:latin typeface="Inter"/>
                  <a:ea typeface="Inter"/>
                  <a:cs typeface="Inter"/>
                  <a:sym typeface="Inter"/>
                </a:rPr>
                <a:t>GitHub adalah platform untuk menyimpan, m</a:t>
              </a:r>
              <a:r>
                <a:rPr lang="en-US" sz="2485">
                  <a:solidFill>
                    <a:srgbClr val="42174E"/>
                  </a:solidFill>
                  <a:latin typeface="Inter"/>
                  <a:ea typeface="Inter"/>
                  <a:cs typeface="Inter"/>
                  <a:sym typeface="Inter"/>
                </a:rPr>
                <a:t>engelola, dan membagikan kode program.</a:t>
              </a:r>
            </a:p>
            <a:p>
              <a:pPr algn="l" marL="536532" indent="-268266" lvl="1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42174E"/>
                  </a:solidFill>
                  <a:latin typeface="Inter"/>
                  <a:ea typeface="Inter"/>
                  <a:cs typeface="Inter"/>
                  <a:sym typeface="Inter"/>
                </a:rPr>
                <a:t>GitHub menggunakan Git untuk mencatat perubahan pada file.</a:t>
              </a:r>
            </a:p>
            <a:p>
              <a:pPr algn="l" marL="536532" indent="-268266" lvl="1">
                <a:lnSpc>
                  <a:spcPts val="3479"/>
                </a:lnSpc>
                <a:buFont typeface="Arial"/>
                <a:buChar char="•"/>
              </a:pPr>
              <a:r>
                <a:rPr lang="en-US" sz="2485">
                  <a:solidFill>
                    <a:srgbClr val="42174E"/>
                  </a:solidFill>
                  <a:latin typeface="Inter"/>
                  <a:ea typeface="Inter"/>
                  <a:cs typeface="Inter"/>
                  <a:sym typeface="Inter"/>
                </a:rPr>
                <a:t>Pengguna dapat bekerja sama dalam satu proyek.</a:t>
              </a:r>
            </a:p>
            <a:p>
              <a:pPr algn="l" marL="536532" indent="-268266" lvl="1">
                <a:lnSpc>
                  <a:spcPts val="34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85">
                  <a:solidFill>
                    <a:srgbClr val="42174E"/>
                  </a:solidFill>
                  <a:latin typeface="Inter"/>
                  <a:ea typeface="Inter"/>
                  <a:cs typeface="Inter"/>
                  <a:sym typeface="Inter"/>
                </a:rPr>
                <a:t>GitHub juga dapat digunakan untuk menyimpan dokumentasi dan portofolio pemrograman.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96" r="0" b="-92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18246" y="-2369361"/>
            <a:ext cx="8207139" cy="8575156"/>
          </a:xfrm>
          <a:custGeom>
            <a:avLst/>
            <a:gdLst/>
            <a:ahLst/>
            <a:cxnLst/>
            <a:rect r="r" b="b" t="t" l="l"/>
            <a:pathLst>
              <a:path h="8575156" w="8207139">
                <a:moveTo>
                  <a:pt x="0" y="0"/>
                </a:moveTo>
                <a:lnTo>
                  <a:pt x="8207139" y="0"/>
                </a:lnTo>
                <a:lnTo>
                  <a:pt x="8207139" y="8575156"/>
                </a:lnTo>
                <a:lnTo>
                  <a:pt x="0" y="8575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37382" y="1114425"/>
            <a:ext cx="1286058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b="true" sz="9000" spc="-450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Apa Itu Open-S</a:t>
            </a:r>
            <a:r>
              <a:rPr lang="en-US" b="true" sz="9000" spc="-450" strike="noStrike" u="non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ource?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37382" y="2823888"/>
            <a:ext cx="13646242" cy="4912202"/>
            <a:chOff x="0" y="0"/>
            <a:chExt cx="18194990" cy="654960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8194990" cy="6549603"/>
              <a:chOff x="0" y="0"/>
              <a:chExt cx="3594072" cy="129374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594072" cy="1293749"/>
              </a:xfrm>
              <a:custGeom>
                <a:avLst/>
                <a:gdLst/>
                <a:ahLst/>
                <a:cxnLst/>
                <a:rect r="r" b="b" t="t" l="l"/>
                <a:pathLst>
                  <a:path h="1293749" w="3594072">
                    <a:moveTo>
                      <a:pt x="34040" y="0"/>
                    </a:moveTo>
                    <a:lnTo>
                      <a:pt x="3560032" y="0"/>
                    </a:lnTo>
                    <a:cubicBezTo>
                      <a:pt x="3578832" y="0"/>
                      <a:pt x="3594072" y="15240"/>
                      <a:pt x="3594072" y="34040"/>
                    </a:cubicBezTo>
                    <a:lnTo>
                      <a:pt x="3594072" y="1259709"/>
                    </a:lnTo>
                    <a:cubicBezTo>
                      <a:pt x="3594072" y="1278509"/>
                      <a:pt x="3578832" y="1293749"/>
                      <a:pt x="3560032" y="1293749"/>
                    </a:cubicBezTo>
                    <a:lnTo>
                      <a:pt x="34040" y="1293749"/>
                    </a:lnTo>
                    <a:cubicBezTo>
                      <a:pt x="15240" y="1293749"/>
                      <a:pt x="0" y="1278509"/>
                      <a:pt x="0" y="1259709"/>
                    </a:cubicBezTo>
                    <a:lnTo>
                      <a:pt x="0" y="34040"/>
                    </a:lnTo>
                    <a:cubicBezTo>
                      <a:pt x="0" y="15240"/>
                      <a:pt x="15240" y="0"/>
                      <a:pt x="3404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ln w="2857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3594072" cy="13413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197651" y="496541"/>
              <a:ext cx="15349728" cy="3458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42174E"/>
                  </a:solidFill>
                  <a:latin typeface="Inter"/>
                  <a:ea typeface="Inter"/>
                  <a:cs typeface="Inter"/>
                  <a:sym typeface="Inter"/>
                </a:rPr>
                <a:t>Open-source adalah perangkat lunak yang kode sumbernya tersedia untuk dipelajari dan digunakan sesuai ketentuan lisensinya.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42174E"/>
                  </a:solidFill>
                  <a:latin typeface="Inter"/>
                  <a:ea typeface="Inter"/>
                  <a:cs typeface="Inter"/>
                  <a:sym typeface="Inter"/>
                </a:rPr>
                <a:t>Pengembang lai</a:t>
              </a:r>
              <a:r>
                <a:rPr lang="en-US" sz="2499">
                  <a:solidFill>
                    <a:srgbClr val="42174E"/>
                  </a:solidFill>
                  <a:latin typeface="Inter"/>
                  <a:ea typeface="Inter"/>
                  <a:cs typeface="Inter"/>
                  <a:sym typeface="Inter"/>
                </a:rPr>
                <a:t>n dapat membantu memperbaiki atau mengembangkan proyek.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42174E"/>
                  </a:solidFill>
                  <a:latin typeface="Inter"/>
                  <a:ea typeface="Inter"/>
                  <a:cs typeface="Inter"/>
                  <a:sym typeface="Inter"/>
                </a:rPr>
                <a:t>Kolaborasi dilakukan secara terbuka melalui kontribusi dan diskusi.</a:t>
              </a:r>
            </a:p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42174E"/>
                  </a:solidFill>
                  <a:latin typeface="Inter"/>
                  <a:ea typeface="Inter"/>
                  <a:cs typeface="Inter"/>
                  <a:sym typeface="Inter"/>
                </a:rPr>
                <a:t>Setiap proyek memiliki lisensi yang perlu diperhatikan.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197651" y="4251508"/>
              <a:ext cx="7955326" cy="1706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true">
                  <a:solidFill>
                    <a:srgbClr val="42174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Contoh: </a:t>
              </a:r>
              <a:r>
                <a:rPr lang="en-US" sz="2499">
                  <a:solidFill>
                    <a:srgbClr val="42174E"/>
                  </a:solidFill>
                  <a:latin typeface="Inter"/>
                  <a:ea typeface="Inter"/>
                  <a:cs typeface="Inter"/>
                  <a:sym typeface="Inter"/>
                </a:rPr>
                <a:t>Proyek aplikasi sederhana yang kode sumbernya dapat dipelajari </a:t>
              </a:r>
              <a:r>
                <a:rPr lang="en-US" sz="2499">
                  <a:solidFill>
                    <a:srgbClr val="42174E"/>
                  </a:solidFill>
                  <a:latin typeface="Inter"/>
                  <a:ea typeface="Inter"/>
                  <a:cs typeface="Inter"/>
                  <a:sym typeface="Inter"/>
                </a:rPr>
                <a:t>oleh mahasiswa lain.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96" r="0" b="-92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08157" y="0"/>
            <a:ext cx="9939814" cy="10287000"/>
          </a:xfrm>
          <a:custGeom>
            <a:avLst/>
            <a:gdLst/>
            <a:ahLst/>
            <a:cxnLst/>
            <a:rect r="r" b="b" t="t" l="l"/>
            <a:pathLst>
              <a:path h="10287000" w="9939814">
                <a:moveTo>
                  <a:pt x="0" y="0"/>
                </a:moveTo>
                <a:lnTo>
                  <a:pt x="9939814" y="0"/>
                </a:lnTo>
                <a:lnTo>
                  <a:pt x="99398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95657" y="746259"/>
            <a:ext cx="12213197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599"/>
              </a:lnSpc>
              <a:spcBef>
                <a:spcPct val="0"/>
              </a:spcBef>
            </a:pPr>
            <a:r>
              <a:rPr lang="en-US" b="true" sz="9000" spc="-450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9000" spc="-450" strike="noStrike" u="non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engenal Repository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708854" y="1404486"/>
            <a:ext cx="550446" cy="55044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483F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30149" y="3210751"/>
            <a:ext cx="10144213" cy="6047549"/>
            <a:chOff x="0" y="0"/>
            <a:chExt cx="13525617" cy="806339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3525617" cy="8063399"/>
              <a:chOff x="0" y="0"/>
              <a:chExt cx="2385205" cy="142195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85205" cy="1421958"/>
              </a:xfrm>
              <a:custGeom>
                <a:avLst/>
                <a:gdLst/>
                <a:ahLst/>
                <a:cxnLst/>
                <a:rect r="r" b="b" t="t" l="l"/>
                <a:pathLst>
                  <a:path h="1421958" w="2385205">
                    <a:moveTo>
                      <a:pt x="51292" y="0"/>
                    </a:moveTo>
                    <a:lnTo>
                      <a:pt x="2333913" y="0"/>
                    </a:lnTo>
                    <a:cubicBezTo>
                      <a:pt x="2362241" y="0"/>
                      <a:pt x="2385205" y="22964"/>
                      <a:pt x="2385205" y="51292"/>
                    </a:cubicBezTo>
                    <a:lnTo>
                      <a:pt x="2385205" y="1370666"/>
                    </a:lnTo>
                    <a:cubicBezTo>
                      <a:pt x="2385205" y="1398994"/>
                      <a:pt x="2362241" y="1421958"/>
                      <a:pt x="2333913" y="1421958"/>
                    </a:cubicBezTo>
                    <a:lnTo>
                      <a:pt x="51292" y="1421958"/>
                    </a:lnTo>
                    <a:cubicBezTo>
                      <a:pt x="22964" y="1421958"/>
                      <a:pt x="0" y="1398994"/>
                      <a:pt x="0" y="1370666"/>
                    </a:cubicBezTo>
                    <a:lnTo>
                      <a:pt x="0" y="51292"/>
                    </a:lnTo>
                    <a:cubicBezTo>
                      <a:pt x="0" y="22964"/>
                      <a:pt x="22964" y="0"/>
                      <a:pt x="51292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385205" cy="14695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180421" y="421254"/>
              <a:ext cx="11523753" cy="41726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47408" indent="-273704" lvl="1">
                <a:lnSpc>
                  <a:spcPts val="3549"/>
                </a:lnSpc>
                <a:buFont typeface="Arial"/>
                <a:buChar char="•"/>
              </a:pPr>
              <a:r>
                <a:rPr lang="en-US" sz="2535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Repository atau repo adalah tempat penyimpanan file proyek.</a:t>
              </a:r>
            </a:p>
            <a:p>
              <a:pPr algn="l" marL="547408" indent="-273704" lvl="1">
                <a:lnSpc>
                  <a:spcPts val="3549"/>
                </a:lnSpc>
                <a:buFont typeface="Arial"/>
                <a:buChar char="•"/>
              </a:pPr>
              <a:r>
                <a:rPr lang="en-US" sz="2535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Repository dapat beris</a:t>
              </a:r>
              <a:r>
                <a:rPr lang="en-US" sz="2535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i kode program, gambar, dokumentasi, dan file pendukung.</a:t>
              </a:r>
            </a:p>
            <a:p>
              <a:pPr algn="l" marL="547408" indent="-273704" lvl="1">
                <a:lnSpc>
                  <a:spcPts val="3549"/>
                </a:lnSpc>
                <a:buFont typeface="Arial"/>
                <a:buChar char="•"/>
              </a:pPr>
              <a:r>
                <a:rPr lang="en-US" sz="2535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Repository dapat bersifat publik atau privat.</a:t>
              </a:r>
            </a:p>
            <a:p>
              <a:pPr algn="l" marL="547408" indent="-273704" lvl="1">
                <a:lnSpc>
                  <a:spcPts val="354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35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README biasanya menjelaskan tujuan proyek, cara penggunaan, dan petunjuk instalasi.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180421" y="4854233"/>
              <a:ext cx="11523753" cy="2380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49"/>
                </a:lnSpc>
              </a:pPr>
              <a:r>
                <a:rPr lang="en-US" sz="2535" b="true">
                  <a:solidFill>
                    <a:srgbClr val="4217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Contoh struktur repository</a:t>
              </a:r>
            </a:p>
            <a:p>
              <a:pPr algn="l" marL="547408" indent="-273704" lvl="1">
                <a:lnSpc>
                  <a:spcPts val="3549"/>
                </a:lnSpc>
                <a:buFont typeface="Arial"/>
                <a:buChar char="•"/>
              </a:pPr>
              <a:r>
                <a:rPr lang="en-US" sz="2535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README.md — penjelasan proyek</a:t>
              </a:r>
            </a:p>
            <a:p>
              <a:pPr algn="l" marL="547408" indent="-273704" lvl="1">
                <a:lnSpc>
                  <a:spcPts val="3549"/>
                </a:lnSpc>
                <a:buFont typeface="Arial"/>
                <a:buChar char="•"/>
              </a:pPr>
              <a:r>
                <a:rPr lang="en-US" sz="2535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ma</a:t>
              </a:r>
              <a:r>
                <a:rPr lang="en-US" sz="2535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in.py —</a:t>
              </a:r>
              <a:r>
                <a:rPr lang="en-US" sz="2535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 program utama</a:t>
              </a:r>
            </a:p>
            <a:p>
              <a:pPr algn="l" marL="547408" indent="-273704" lvl="1">
                <a:lnSpc>
                  <a:spcPts val="354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535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requirements.txt — daftar dependensi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96" r="0" b="-929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88852" y="910888"/>
            <a:ext cx="9559137" cy="235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80"/>
              </a:lnSpc>
              <a:spcBef>
                <a:spcPct val="0"/>
              </a:spcBef>
            </a:pPr>
            <a:r>
              <a:rPr lang="en-US" b="true" sz="6629" spc="-331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Ca</a:t>
            </a:r>
            <a:r>
              <a:rPr lang="en-US" b="true" sz="6629" spc="-331" strike="noStrike" u="non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ra Kerja Kolaborasi Open-Source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10415121" y="2179247"/>
            <a:ext cx="9787222" cy="10226091"/>
          </a:xfrm>
          <a:custGeom>
            <a:avLst/>
            <a:gdLst/>
            <a:ahLst/>
            <a:cxnLst/>
            <a:rect r="r" b="b" t="t" l="l"/>
            <a:pathLst>
              <a:path h="10226091" w="9787222">
                <a:moveTo>
                  <a:pt x="9787222" y="10226092"/>
                </a:moveTo>
                <a:lnTo>
                  <a:pt x="0" y="10226092"/>
                </a:lnTo>
                <a:lnTo>
                  <a:pt x="0" y="0"/>
                </a:lnTo>
                <a:lnTo>
                  <a:pt x="9787222" y="0"/>
                </a:lnTo>
                <a:lnTo>
                  <a:pt x="9787222" y="10226092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2127863"/>
            <a:ext cx="550446" cy="55044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483F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683746" y="3530675"/>
            <a:ext cx="11369349" cy="5555763"/>
            <a:chOff x="0" y="0"/>
            <a:chExt cx="15159133" cy="740768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5159133" cy="7407683"/>
              <a:chOff x="0" y="0"/>
              <a:chExt cx="2994397" cy="146324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994396" cy="1463246"/>
              </a:xfrm>
              <a:custGeom>
                <a:avLst/>
                <a:gdLst/>
                <a:ahLst/>
                <a:cxnLst/>
                <a:rect r="r" b="b" t="t" l="l"/>
                <a:pathLst>
                  <a:path h="1463246" w="2994396">
                    <a:moveTo>
                      <a:pt x="40857" y="0"/>
                    </a:moveTo>
                    <a:lnTo>
                      <a:pt x="2953540" y="0"/>
                    </a:lnTo>
                    <a:cubicBezTo>
                      <a:pt x="2964376" y="0"/>
                      <a:pt x="2974768" y="4305"/>
                      <a:pt x="2982430" y="11967"/>
                    </a:cubicBezTo>
                    <a:cubicBezTo>
                      <a:pt x="2990092" y="19629"/>
                      <a:pt x="2994396" y="30021"/>
                      <a:pt x="2994396" y="40857"/>
                    </a:cubicBezTo>
                    <a:lnTo>
                      <a:pt x="2994396" y="1422389"/>
                    </a:lnTo>
                    <a:cubicBezTo>
                      <a:pt x="2994396" y="1433225"/>
                      <a:pt x="2990092" y="1443617"/>
                      <a:pt x="2982430" y="1451279"/>
                    </a:cubicBezTo>
                    <a:cubicBezTo>
                      <a:pt x="2974768" y="1458942"/>
                      <a:pt x="2964376" y="1463246"/>
                      <a:pt x="2953540" y="1463246"/>
                    </a:cubicBezTo>
                    <a:lnTo>
                      <a:pt x="40857" y="1463246"/>
                    </a:lnTo>
                    <a:cubicBezTo>
                      <a:pt x="30021" y="1463246"/>
                      <a:pt x="19629" y="1458942"/>
                      <a:pt x="11967" y="1451279"/>
                    </a:cubicBezTo>
                    <a:cubicBezTo>
                      <a:pt x="4305" y="1443617"/>
                      <a:pt x="0" y="1433225"/>
                      <a:pt x="0" y="1422389"/>
                    </a:cubicBezTo>
                    <a:lnTo>
                      <a:pt x="0" y="40857"/>
                    </a:lnTo>
                    <a:cubicBezTo>
                      <a:pt x="0" y="30021"/>
                      <a:pt x="4305" y="19629"/>
                      <a:pt x="11967" y="11967"/>
                    </a:cubicBezTo>
                    <a:cubicBezTo>
                      <a:pt x="19629" y="4305"/>
                      <a:pt x="30021" y="0"/>
                      <a:pt x="40857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994397" cy="1510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756076" y="623456"/>
              <a:ext cx="13604501" cy="715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07"/>
                </a:lnSpc>
                <a:spcBef>
                  <a:spcPct val="0"/>
                </a:spcBef>
              </a:pPr>
              <a:r>
                <a:rPr lang="en-US" b="true" sz="3148">
                  <a:solidFill>
                    <a:srgbClr val="4217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Tahapan kolaborasi</a:t>
              </a:r>
              <a:r>
                <a:rPr lang="en-US" b="true" sz="3148">
                  <a:solidFill>
                    <a:srgbClr val="4217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dalam proyek Open-Source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66964" y="1501080"/>
              <a:ext cx="13626649" cy="3114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84005" indent="-242003" lvl="1">
                <a:lnSpc>
                  <a:spcPts val="3138"/>
                </a:lnSpc>
                <a:buFont typeface="Arial"/>
                <a:buChar char="•"/>
              </a:pPr>
              <a:r>
                <a:rPr lang="en-US" sz="2241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F</a:t>
              </a:r>
              <a:r>
                <a:rPr lang="en-US" sz="2241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ork: Membuat salinan repository ke akun sendiri.</a:t>
              </a:r>
            </a:p>
            <a:p>
              <a:pPr algn="just" marL="484005" indent="-242003" lvl="1">
                <a:lnSpc>
                  <a:spcPts val="3138"/>
                </a:lnSpc>
                <a:buFont typeface="Arial"/>
                <a:buChar char="•"/>
              </a:pPr>
              <a:r>
                <a:rPr lang="en-US" sz="2241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Clone: Mengunduh repository ke komputer.</a:t>
              </a:r>
            </a:p>
            <a:p>
              <a:pPr algn="just" marL="484005" indent="-242003" lvl="1">
                <a:lnSpc>
                  <a:spcPts val="3138"/>
                </a:lnSpc>
                <a:buFont typeface="Arial"/>
                <a:buChar char="•"/>
              </a:pPr>
              <a:r>
                <a:rPr lang="en-US" sz="2241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Edit: Memperbaiki atau menambahkan kode.</a:t>
              </a:r>
            </a:p>
            <a:p>
              <a:pPr algn="just" marL="484005" indent="-242003" lvl="1">
                <a:lnSpc>
                  <a:spcPts val="3138"/>
                </a:lnSpc>
                <a:buFont typeface="Arial"/>
                <a:buChar char="•"/>
              </a:pPr>
              <a:r>
                <a:rPr lang="en-US" sz="2241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Commit: Mencatat perubahan yang dilakukan.</a:t>
              </a:r>
            </a:p>
            <a:p>
              <a:pPr algn="just" marL="484005" indent="-242003" lvl="1">
                <a:lnSpc>
                  <a:spcPts val="313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41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Pull Request: Mengajukan perubahan agar dapat ditinjau oleh pemilik proyek.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733928" y="5624124"/>
              <a:ext cx="13626649" cy="1032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38"/>
                </a:lnSpc>
                <a:spcBef>
                  <a:spcPct val="0"/>
                </a:spcBef>
              </a:pPr>
              <a:r>
                <a:rPr lang="en-US" sz="2241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Kolaborasi open-source membantu pengembang belajar bersama dan meningkatkan kualitas perangkat lunak.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733928" y="4752704"/>
              <a:ext cx="4012942" cy="715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7"/>
                </a:lnSpc>
                <a:spcBef>
                  <a:spcPct val="0"/>
                </a:spcBef>
              </a:pPr>
              <a:r>
                <a:rPr lang="en-US" sz="3148" b="true">
                  <a:solidFill>
                    <a:srgbClr val="4217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Kesimpulan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96" r="0" b="-92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295273" y="3453277"/>
            <a:ext cx="7455287" cy="7789591"/>
          </a:xfrm>
          <a:custGeom>
            <a:avLst/>
            <a:gdLst/>
            <a:ahLst/>
            <a:cxnLst/>
            <a:rect r="r" b="b" t="t" l="l"/>
            <a:pathLst>
              <a:path h="7789591" w="7455287">
                <a:moveTo>
                  <a:pt x="0" y="7789591"/>
                </a:moveTo>
                <a:lnTo>
                  <a:pt x="7455287" y="7789591"/>
                </a:lnTo>
                <a:lnTo>
                  <a:pt x="7455287" y="0"/>
                </a:lnTo>
                <a:lnTo>
                  <a:pt x="0" y="0"/>
                </a:lnTo>
                <a:lnTo>
                  <a:pt x="0" y="7789591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174469" y="-1002316"/>
            <a:ext cx="7455287" cy="7789591"/>
          </a:xfrm>
          <a:custGeom>
            <a:avLst/>
            <a:gdLst/>
            <a:ahLst/>
            <a:cxnLst/>
            <a:rect r="r" b="b" t="t" l="l"/>
            <a:pathLst>
              <a:path h="7789591" w="7455287">
                <a:moveTo>
                  <a:pt x="7455287" y="7789590"/>
                </a:moveTo>
                <a:lnTo>
                  <a:pt x="0" y="7789590"/>
                </a:lnTo>
                <a:lnTo>
                  <a:pt x="0" y="0"/>
                </a:lnTo>
                <a:lnTo>
                  <a:pt x="7455287" y="0"/>
                </a:lnTo>
                <a:lnTo>
                  <a:pt x="7455287" y="778959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351667" y="1198610"/>
            <a:ext cx="550446" cy="55044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483F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950960"/>
            <a:ext cx="1623060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99"/>
              </a:lnSpc>
              <a:spcBef>
                <a:spcPct val="0"/>
              </a:spcBef>
            </a:pPr>
            <a:r>
              <a:rPr lang="en-US" b="true" sz="9000" spc="-450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Con</a:t>
            </a:r>
            <a:r>
              <a:rPr lang="en-US" b="true" sz="9000" spc="-450" strike="noStrike" u="non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toh Analisis Repository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32371" y="2670368"/>
            <a:ext cx="14962317" cy="8572500"/>
            <a:chOff x="0" y="0"/>
            <a:chExt cx="19949756" cy="11430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898684" y="653776"/>
              <a:ext cx="5042114" cy="8310210"/>
              <a:chOff x="0" y="0"/>
              <a:chExt cx="995973" cy="164152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95973" cy="1641523"/>
              </a:xfrm>
              <a:custGeom>
                <a:avLst/>
                <a:gdLst/>
                <a:ahLst/>
                <a:cxnLst/>
                <a:rect r="r" b="b" t="t" l="l"/>
                <a:pathLst>
                  <a:path h="1641523" w="995973">
                    <a:moveTo>
                      <a:pt x="61418" y="0"/>
                    </a:moveTo>
                    <a:lnTo>
                      <a:pt x="934555" y="0"/>
                    </a:lnTo>
                    <a:cubicBezTo>
                      <a:pt x="968475" y="0"/>
                      <a:pt x="995973" y="27498"/>
                      <a:pt x="995973" y="61418"/>
                    </a:cubicBezTo>
                    <a:lnTo>
                      <a:pt x="995973" y="1580105"/>
                    </a:lnTo>
                    <a:cubicBezTo>
                      <a:pt x="995973" y="1614025"/>
                      <a:pt x="968475" y="1641523"/>
                      <a:pt x="934555" y="1641523"/>
                    </a:cubicBezTo>
                    <a:lnTo>
                      <a:pt x="61418" y="1641523"/>
                    </a:lnTo>
                    <a:cubicBezTo>
                      <a:pt x="27498" y="1641523"/>
                      <a:pt x="0" y="1614025"/>
                      <a:pt x="0" y="1580105"/>
                    </a:cubicBezTo>
                    <a:lnTo>
                      <a:pt x="0" y="61418"/>
                    </a:lnTo>
                    <a:cubicBezTo>
                      <a:pt x="0" y="27498"/>
                      <a:pt x="27498" y="0"/>
                      <a:pt x="6141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995973" cy="16891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19949756" cy="11430000"/>
              <a:chOff x="0" y="0"/>
              <a:chExt cx="3940693" cy="225777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940693" cy="2257778"/>
              </a:xfrm>
              <a:custGeom>
                <a:avLst/>
                <a:gdLst/>
                <a:ahLst/>
                <a:cxnLst/>
                <a:rect r="r" b="b" t="t" l="l"/>
                <a:pathLst>
                  <a:path h="2257778" w="3940693">
                    <a:moveTo>
                      <a:pt x="31046" y="0"/>
                    </a:moveTo>
                    <a:lnTo>
                      <a:pt x="3909647" y="0"/>
                    </a:lnTo>
                    <a:cubicBezTo>
                      <a:pt x="3926793" y="0"/>
                      <a:pt x="3940693" y="13900"/>
                      <a:pt x="3940693" y="31046"/>
                    </a:cubicBezTo>
                    <a:lnTo>
                      <a:pt x="3940693" y="2226732"/>
                    </a:lnTo>
                    <a:cubicBezTo>
                      <a:pt x="3940693" y="2243878"/>
                      <a:pt x="3926793" y="2257778"/>
                      <a:pt x="3909647" y="2257778"/>
                    </a:cubicBezTo>
                    <a:lnTo>
                      <a:pt x="31046" y="2257778"/>
                    </a:lnTo>
                    <a:cubicBezTo>
                      <a:pt x="13900" y="2257778"/>
                      <a:pt x="0" y="2243878"/>
                      <a:pt x="0" y="2226732"/>
                    </a:cubicBezTo>
                    <a:lnTo>
                      <a:pt x="0" y="31046"/>
                    </a:lnTo>
                    <a:cubicBezTo>
                      <a:pt x="0" y="13900"/>
                      <a:pt x="13900" y="0"/>
                      <a:pt x="3104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w="2857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3940693" cy="23054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514747" y="948804"/>
              <a:ext cx="17684396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Sebagai contoh, kita menggunakan repository aplik</a:t>
              </a:r>
              <a:r>
                <a:rPr lang="en-US" sz="2599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asi kalkulator sederhana.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951864" y="1666250"/>
              <a:ext cx="16810163" cy="4048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3589" indent="-266794" lvl="1">
                <a:lnSpc>
                  <a:spcPts val="3460"/>
                </a:lnSpc>
                <a:buFont typeface="Arial"/>
                <a:buChar char="•"/>
              </a:pPr>
              <a:r>
                <a:rPr lang="en-US" sz="2471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Aspek - Hasil ringkasan</a:t>
              </a:r>
            </a:p>
            <a:p>
              <a:pPr algn="just" marL="533589" indent="-266794" lvl="1">
                <a:lnSpc>
                  <a:spcPts val="3460"/>
                </a:lnSpc>
                <a:buFont typeface="Arial"/>
                <a:buChar char="•"/>
              </a:pPr>
              <a:r>
                <a:rPr lang="en-US" sz="2471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Tujuan - Melakukan perhitungan matematika dasar</a:t>
              </a:r>
            </a:p>
            <a:p>
              <a:pPr algn="just" marL="533589" indent="-266794" lvl="1">
                <a:lnSpc>
                  <a:spcPts val="3460"/>
                </a:lnSpc>
                <a:buFont typeface="Arial"/>
                <a:buChar char="•"/>
              </a:pPr>
              <a:r>
                <a:rPr lang="en-US" sz="2471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Fitur - Penjumlahan, pengurangan, perkalian, pembagian</a:t>
              </a:r>
            </a:p>
            <a:p>
              <a:pPr algn="just" marL="533589" indent="-266794" lvl="1">
                <a:lnSpc>
                  <a:spcPts val="3460"/>
                </a:lnSpc>
                <a:buFont typeface="Arial"/>
                <a:buChar char="•"/>
              </a:pPr>
              <a:r>
                <a:rPr lang="en-US" sz="2471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Bahasa - Misalnya Python</a:t>
              </a:r>
            </a:p>
            <a:p>
              <a:pPr algn="just" marL="533589" indent="-266794" lvl="1">
                <a:lnSpc>
                  <a:spcPts val="3460"/>
                </a:lnSpc>
                <a:buFont typeface="Arial"/>
                <a:buChar char="•"/>
              </a:pPr>
              <a:r>
                <a:rPr lang="en-US" sz="2471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File utama - main.py</a:t>
              </a:r>
            </a:p>
            <a:p>
              <a:pPr algn="just" marL="533589" indent="-266794" lvl="1">
                <a:lnSpc>
                  <a:spcPts val="3460"/>
                </a:lnSpc>
                <a:buFont typeface="Arial"/>
                <a:buChar char="•"/>
              </a:pPr>
              <a:r>
                <a:rPr lang="en-US" sz="2471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Konsep yang dipelajari - V</a:t>
              </a:r>
              <a:r>
                <a:rPr lang="en-US" sz="2471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ariabel, fungsi, input, output, percabangan</a:t>
              </a:r>
            </a:p>
            <a:p>
              <a:pPr algn="just">
                <a:lnSpc>
                  <a:spcPts val="3460"/>
                </a:lnSpc>
                <a:spcBef>
                  <a:spcPct val="0"/>
                </a:spcBef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951864" y="5200356"/>
              <a:ext cx="16810163" cy="1730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60"/>
                </a:lnSpc>
                <a:spcBef>
                  <a:spcPct val="0"/>
                </a:spcBef>
              </a:pPr>
              <a:r>
                <a:rPr lang="en-US" sz="2471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AI dapat membantu merangkum informasi tersebut sehingga pemula lebih mudah memahami proyek. Hasilnya tetap perlu diperiks</a:t>
              </a:r>
              <a:r>
                <a:rPr lang="en-US" sz="2471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a dengan isi repository yang sebenarnya.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96" r="0" b="-929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708854" y="1994046"/>
            <a:ext cx="550446" cy="55044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483F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1957224" y="5965269"/>
            <a:ext cx="2761038" cy="1079183"/>
            <a:chOff x="0" y="0"/>
            <a:chExt cx="519090" cy="2028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090" cy="202892"/>
            </a:xfrm>
            <a:custGeom>
              <a:avLst/>
              <a:gdLst/>
              <a:ahLst/>
              <a:cxnLst/>
              <a:rect r="r" b="b" t="t" l="l"/>
              <a:pathLst>
                <a:path h="202892" w="519090">
                  <a:moveTo>
                    <a:pt x="101446" y="0"/>
                  </a:moveTo>
                  <a:lnTo>
                    <a:pt x="417644" y="0"/>
                  </a:lnTo>
                  <a:cubicBezTo>
                    <a:pt x="444549" y="0"/>
                    <a:pt x="470352" y="10688"/>
                    <a:pt x="489377" y="29713"/>
                  </a:cubicBezTo>
                  <a:cubicBezTo>
                    <a:pt x="508402" y="48738"/>
                    <a:pt x="519090" y="74541"/>
                    <a:pt x="519090" y="101446"/>
                  </a:cubicBezTo>
                  <a:lnTo>
                    <a:pt x="519090" y="101446"/>
                  </a:lnTo>
                  <a:cubicBezTo>
                    <a:pt x="519090" y="157473"/>
                    <a:pt x="473671" y="202892"/>
                    <a:pt x="417644" y="202892"/>
                  </a:cubicBezTo>
                  <a:lnTo>
                    <a:pt x="101446" y="202892"/>
                  </a:lnTo>
                  <a:cubicBezTo>
                    <a:pt x="45419" y="202892"/>
                    <a:pt x="0" y="157473"/>
                    <a:pt x="0" y="101446"/>
                  </a:cubicBezTo>
                  <a:lnTo>
                    <a:pt x="0" y="101446"/>
                  </a:lnTo>
                  <a:cubicBezTo>
                    <a:pt x="0" y="45419"/>
                    <a:pt x="45419" y="0"/>
                    <a:pt x="10144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519090" cy="317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133669" y="916395"/>
            <a:ext cx="14020662" cy="107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26"/>
              </a:lnSpc>
              <a:spcBef>
                <a:spcPct val="0"/>
              </a:spcBef>
            </a:pPr>
            <a:r>
              <a:rPr lang="en-US" b="true" sz="5947" spc="-297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Mengenal</a:t>
            </a:r>
            <a:r>
              <a:rPr lang="en-US" b="true" sz="5947" spc="-297" strike="noStrike" u="non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 Repository GitHub reveal.js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2268970"/>
            <a:ext cx="16230600" cy="5710741"/>
            <a:chOff x="0" y="0"/>
            <a:chExt cx="21640800" cy="761432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1640800" cy="7614322"/>
              <a:chOff x="0" y="0"/>
              <a:chExt cx="4274726" cy="150406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274726" cy="1504064"/>
              </a:xfrm>
              <a:custGeom>
                <a:avLst/>
                <a:gdLst/>
                <a:ahLst/>
                <a:cxnLst/>
                <a:rect r="r" b="b" t="t" l="l"/>
                <a:pathLst>
                  <a:path h="1504064" w="4274726">
                    <a:moveTo>
                      <a:pt x="28620" y="0"/>
                    </a:moveTo>
                    <a:lnTo>
                      <a:pt x="4246106" y="0"/>
                    </a:lnTo>
                    <a:cubicBezTo>
                      <a:pt x="4261912" y="0"/>
                      <a:pt x="4274726" y="12813"/>
                      <a:pt x="4274726" y="28620"/>
                    </a:cubicBezTo>
                    <a:lnTo>
                      <a:pt x="4274726" y="1475444"/>
                    </a:lnTo>
                    <a:cubicBezTo>
                      <a:pt x="4274726" y="1491250"/>
                      <a:pt x="4261912" y="1504064"/>
                      <a:pt x="4246106" y="1504064"/>
                    </a:cubicBezTo>
                    <a:lnTo>
                      <a:pt x="28620" y="1504064"/>
                    </a:lnTo>
                    <a:cubicBezTo>
                      <a:pt x="12813" y="1504064"/>
                      <a:pt x="0" y="1491250"/>
                      <a:pt x="0" y="1475444"/>
                    </a:cubicBezTo>
                    <a:lnTo>
                      <a:pt x="0" y="28620"/>
                    </a:lnTo>
                    <a:cubicBezTo>
                      <a:pt x="0" y="12813"/>
                      <a:pt x="12813" y="0"/>
                      <a:pt x="286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w="2857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274726" cy="15516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5400000">
              <a:off x="7053479" y="2506728"/>
              <a:ext cx="3681384" cy="1438910"/>
              <a:chOff x="0" y="0"/>
              <a:chExt cx="519090" cy="20289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19090" cy="202892"/>
              </a:xfrm>
              <a:custGeom>
                <a:avLst/>
                <a:gdLst/>
                <a:ahLst/>
                <a:cxnLst/>
                <a:rect r="r" b="b" t="t" l="l"/>
                <a:pathLst>
                  <a:path h="202892" w="519090">
                    <a:moveTo>
                      <a:pt x="101446" y="0"/>
                    </a:moveTo>
                    <a:lnTo>
                      <a:pt x="417644" y="0"/>
                    </a:lnTo>
                    <a:cubicBezTo>
                      <a:pt x="444549" y="0"/>
                      <a:pt x="470352" y="10688"/>
                      <a:pt x="489377" y="29713"/>
                    </a:cubicBezTo>
                    <a:cubicBezTo>
                      <a:pt x="508402" y="48738"/>
                      <a:pt x="519090" y="74541"/>
                      <a:pt x="519090" y="101446"/>
                    </a:cubicBezTo>
                    <a:lnTo>
                      <a:pt x="519090" y="101446"/>
                    </a:lnTo>
                    <a:cubicBezTo>
                      <a:pt x="519090" y="157473"/>
                      <a:pt x="473671" y="202892"/>
                      <a:pt x="417644" y="202892"/>
                    </a:cubicBezTo>
                    <a:lnTo>
                      <a:pt x="101446" y="202892"/>
                    </a:lnTo>
                    <a:cubicBezTo>
                      <a:pt x="45419" y="202892"/>
                      <a:pt x="0" y="157473"/>
                      <a:pt x="0" y="101446"/>
                    </a:cubicBezTo>
                    <a:lnTo>
                      <a:pt x="0" y="101446"/>
                    </a:lnTo>
                    <a:cubicBezTo>
                      <a:pt x="0" y="45419"/>
                      <a:pt x="45419" y="0"/>
                      <a:pt x="1014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14300"/>
                <a:ext cx="519090" cy="3171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91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205319" y="618738"/>
              <a:ext cx="19230161" cy="1476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74"/>
                </a:lnSpc>
              </a:pPr>
              <a:r>
                <a:rPr lang="en-US" sz="2124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reveal.js adalah framework open source untuk membuat presentasi berbasis web menggunakan HTML, CSS, dan JavaScript. Proyek ini dikembangkan aga</a:t>
              </a:r>
              <a:r>
                <a:rPr lang="en-US" sz="2124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r pengguna dapat membuat slide yang interaktif dengan fitur animasi, transisi, navigasi, catatan pembicara, dan ekspor PDF.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205319" y="2222652"/>
              <a:ext cx="19230161" cy="2461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74"/>
                </a:lnSpc>
              </a:pPr>
              <a:r>
                <a:rPr lang="en-US" sz="2124" b="true">
                  <a:solidFill>
                    <a:srgbClr val="4217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Fitur Utama:</a:t>
              </a:r>
            </a:p>
            <a:p>
              <a:pPr algn="just" marL="458708" indent="-229354" lvl="1">
                <a:lnSpc>
                  <a:spcPts val="2974"/>
                </a:lnSpc>
                <a:buFont typeface="Arial"/>
                <a:buChar char="•"/>
              </a:pPr>
              <a:r>
                <a:rPr lang="en-US" sz="2124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Membuat presentasi berbasis web.</a:t>
              </a:r>
            </a:p>
            <a:p>
              <a:pPr algn="just" marL="458708" indent="-229354" lvl="1">
                <a:lnSpc>
                  <a:spcPts val="2974"/>
                </a:lnSpc>
                <a:buFont typeface="Arial"/>
                <a:buChar char="•"/>
              </a:pPr>
              <a:r>
                <a:rPr lang="en-US" sz="2124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Mendukung animasi dan transisi antarslide.</a:t>
              </a:r>
            </a:p>
            <a:p>
              <a:pPr algn="just" marL="458708" indent="-229354" lvl="1">
                <a:lnSpc>
                  <a:spcPts val="2974"/>
                </a:lnSpc>
                <a:buFont typeface="Arial"/>
                <a:buChar char="•"/>
              </a:pPr>
              <a:r>
                <a:rPr lang="en-US" sz="2124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Memiliki dokumentasi dan contoh</a:t>
              </a:r>
              <a:r>
                <a:rPr lang="en-US" sz="2124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 penggunaan.</a:t>
              </a:r>
            </a:p>
            <a:p>
              <a:pPr algn="just" marL="458708" indent="-229354" lvl="1">
                <a:lnSpc>
                  <a:spcPts val="2974"/>
                </a:lnSpc>
                <a:buFont typeface="Arial"/>
                <a:buChar char="•"/>
              </a:pPr>
              <a:r>
                <a:rPr lang="en-US" sz="2124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Dapat dikembangkan dan dimodifikasi sesuai kebutuhan.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205319" y="4811907"/>
              <a:ext cx="19230161" cy="979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74"/>
                </a:lnSpc>
              </a:pPr>
              <a:r>
                <a:rPr lang="en-US" sz="2124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Struktur Repository: Terdapat file dokumentasi "README.md", file HTML, folder CSS, JavaScript, plugin, se</a:t>
              </a:r>
              <a:r>
                <a:rPr lang="en-US" sz="2124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rta contoh penggunaan.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205319" y="5924559"/>
              <a:ext cx="19230161" cy="975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74"/>
                </a:lnSpc>
              </a:pPr>
              <a:r>
                <a:rPr lang="en-US" b="true" sz="2124">
                  <a:solidFill>
                    <a:srgbClr val="4217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Kesimpulan:</a:t>
              </a:r>
              <a:r>
                <a:rPr lang="en-US" sz="2124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 reveal.js merupakan proyek open source yang menunjukkan pemanfaatan GitHub untuk menyimpan kode program, mengembangkan perangkat lunak, dan membuat presen</a:t>
              </a:r>
              <a:r>
                <a:rPr lang="en-US" sz="2124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tasi interaktif.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96" r="0" b="-92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314465" y="3417626"/>
            <a:ext cx="9787222" cy="10226091"/>
          </a:xfrm>
          <a:custGeom>
            <a:avLst/>
            <a:gdLst/>
            <a:ahLst/>
            <a:cxnLst/>
            <a:rect r="r" b="b" t="t" l="l"/>
            <a:pathLst>
              <a:path h="10226091" w="9787222">
                <a:moveTo>
                  <a:pt x="0" y="10226091"/>
                </a:moveTo>
                <a:lnTo>
                  <a:pt x="9787222" y="10226091"/>
                </a:lnTo>
                <a:lnTo>
                  <a:pt x="9787222" y="0"/>
                </a:lnTo>
                <a:lnTo>
                  <a:pt x="0" y="0"/>
                </a:lnTo>
                <a:lnTo>
                  <a:pt x="0" y="10226091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46358" y="1114425"/>
            <a:ext cx="15395283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</a:pPr>
            <a:r>
              <a:rPr lang="en-US" b="true" sz="9000" spc="-450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 dan P</a:t>
            </a:r>
            <a:r>
              <a:rPr lang="en-US" b="true" sz="9000" spc="-450" strike="noStrike" u="none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enutup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550910" y="2827598"/>
            <a:ext cx="13186180" cy="5555763"/>
            <a:chOff x="0" y="0"/>
            <a:chExt cx="17581574" cy="740768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7581574" cy="7407683"/>
              <a:chOff x="0" y="0"/>
              <a:chExt cx="3472903" cy="146324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472904" cy="1463246"/>
              </a:xfrm>
              <a:custGeom>
                <a:avLst/>
                <a:gdLst/>
                <a:ahLst/>
                <a:cxnLst/>
                <a:rect r="r" b="b" t="t" l="l"/>
                <a:pathLst>
                  <a:path h="1463246" w="3472904">
                    <a:moveTo>
                      <a:pt x="35227" y="0"/>
                    </a:moveTo>
                    <a:lnTo>
                      <a:pt x="3437676" y="0"/>
                    </a:lnTo>
                    <a:cubicBezTo>
                      <a:pt x="3457132" y="0"/>
                      <a:pt x="3472904" y="15772"/>
                      <a:pt x="3472904" y="35227"/>
                    </a:cubicBezTo>
                    <a:lnTo>
                      <a:pt x="3472904" y="1428019"/>
                    </a:lnTo>
                    <a:cubicBezTo>
                      <a:pt x="3472904" y="1437362"/>
                      <a:pt x="3469192" y="1446322"/>
                      <a:pt x="3462586" y="1452928"/>
                    </a:cubicBezTo>
                    <a:cubicBezTo>
                      <a:pt x="3455979" y="1459535"/>
                      <a:pt x="3447019" y="1463246"/>
                      <a:pt x="3437676" y="1463246"/>
                    </a:cubicBezTo>
                    <a:lnTo>
                      <a:pt x="35227" y="1463246"/>
                    </a:lnTo>
                    <a:cubicBezTo>
                      <a:pt x="25885" y="1463246"/>
                      <a:pt x="16924" y="1459535"/>
                      <a:pt x="10318" y="1452928"/>
                    </a:cubicBezTo>
                    <a:cubicBezTo>
                      <a:pt x="3711" y="1446322"/>
                      <a:pt x="0" y="1437362"/>
                      <a:pt x="0" y="1428019"/>
                    </a:cubicBezTo>
                    <a:lnTo>
                      <a:pt x="0" y="35227"/>
                    </a:lnTo>
                    <a:cubicBezTo>
                      <a:pt x="0" y="25885"/>
                      <a:pt x="3711" y="16924"/>
                      <a:pt x="10318" y="10318"/>
                    </a:cubicBezTo>
                    <a:cubicBezTo>
                      <a:pt x="16924" y="3711"/>
                      <a:pt x="25885" y="0"/>
                      <a:pt x="35227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3472903" cy="1510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99992" y="1083069"/>
              <a:ext cx="16305778" cy="51653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97887" indent="-298944" lvl="1">
                <a:lnSpc>
                  <a:spcPts val="3876"/>
                </a:lnSpc>
                <a:buFont typeface="Arial"/>
                <a:buChar char="•"/>
              </a:pPr>
              <a:r>
                <a:rPr lang="en-US" sz="2769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GitHub memudahkan penyimpanan dan pengelolaan proyek.</a:t>
              </a:r>
            </a:p>
            <a:p>
              <a:pPr algn="l" marL="597887" indent="-298944" lvl="1">
                <a:lnSpc>
                  <a:spcPts val="3876"/>
                </a:lnSpc>
                <a:buFont typeface="Arial"/>
                <a:buChar char="•"/>
              </a:pPr>
              <a:r>
                <a:rPr lang="en-US" sz="2769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Open-source memungkinkan kolaborasi pengembangan perangkat lunak.</a:t>
              </a:r>
            </a:p>
            <a:p>
              <a:pPr algn="l" marL="597887" indent="-298944" lvl="1">
                <a:lnSpc>
                  <a:spcPts val="3876"/>
                </a:lnSpc>
                <a:buFont typeface="Arial"/>
                <a:buChar char="•"/>
              </a:pPr>
              <a:r>
                <a:rPr lang="en-US" sz="2769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Repository be</a:t>
              </a:r>
              <a:r>
                <a:rPr lang="en-US" sz="2769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risi kode dan file pendukung sebuah proyek.</a:t>
              </a:r>
            </a:p>
            <a:p>
              <a:pPr algn="l" marL="597887" indent="-298944" lvl="1">
                <a:lnSpc>
                  <a:spcPts val="3876"/>
                </a:lnSpc>
                <a:buFont typeface="Arial"/>
                <a:buChar char="•"/>
              </a:pPr>
              <a:r>
                <a:rPr lang="en-US" sz="2769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AI membantu memahami konsep dan struktur repository dengan lebih cepat.</a:t>
              </a:r>
            </a:p>
            <a:p>
              <a:pPr algn="l" marL="597887" indent="-298944" lvl="1">
                <a:lnSpc>
                  <a:spcPts val="3876"/>
                </a:lnSpc>
                <a:buFont typeface="Arial"/>
                <a:buChar char="•"/>
              </a:pPr>
              <a:r>
                <a:rPr lang="en-US" sz="2769">
                  <a:solidFill>
                    <a:srgbClr val="42174E"/>
                  </a:solidFill>
                  <a:latin typeface="Poppins"/>
                  <a:ea typeface="Poppins"/>
                  <a:cs typeface="Poppins"/>
                  <a:sym typeface="Poppins"/>
                </a:rPr>
                <a:t>Memahami proyek tetap membutuhkan ketelitian dan pemeriksaan mandiri.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6772275"/>
            <a:ext cx="550446" cy="55044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483F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96" r="0" b="-929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0822" y="3640455"/>
            <a:ext cx="11666356" cy="259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60"/>
              </a:lnSpc>
              <a:spcBef>
                <a:spcPct val="0"/>
              </a:spcBef>
            </a:pPr>
            <a:r>
              <a:rPr lang="en-US" b="true" sz="14400" spc="-719">
                <a:solidFill>
                  <a:srgbClr val="42174E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-1844552" y="2179247"/>
            <a:ext cx="9787222" cy="10226091"/>
          </a:xfrm>
          <a:custGeom>
            <a:avLst/>
            <a:gdLst/>
            <a:ahLst/>
            <a:cxnLst/>
            <a:rect r="r" b="b" t="t" l="l"/>
            <a:pathLst>
              <a:path h="10226091" w="9787222">
                <a:moveTo>
                  <a:pt x="0" y="10226092"/>
                </a:moveTo>
                <a:lnTo>
                  <a:pt x="9787222" y="10226092"/>
                </a:lnTo>
                <a:lnTo>
                  <a:pt x="9787222" y="0"/>
                </a:lnTo>
                <a:lnTo>
                  <a:pt x="0" y="0"/>
                </a:lnTo>
                <a:lnTo>
                  <a:pt x="0" y="10226092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843948"/>
            <a:ext cx="550446" cy="55044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483F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461266" y="-4250263"/>
            <a:ext cx="7142621" cy="7462904"/>
          </a:xfrm>
          <a:custGeom>
            <a:avLst/>
            <a:gdLst/>
            <a:ahLst/>
            <a:cxnLst/>
            <a:rect r="r" b="b" t="t" l="l"/>
            <a:pathLst>
              <a:path h="7462904" w="7142621">
                <a:moveTo>
                  <a:pt x="0" y="0"/>
                </a:moveTo>
                <a:lnTo>
                  <a:pt x="7142622" y="0"/>
                </a:lnTo>
                <a:lnTo>
                  <a:pt x="7142622" y="7462904"/>
                </a:lnTo>
                <a:lnTo>
                  <a:pt x="0" y="74629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557732" y="6957794"/>
            <a:ext cx="374650" cy="374650"/>
          </a:xfrm>
          <a:custGeom>
            <a:avLst/>
            <a:gdLst/>
            <a:ahLst/>
            <a:cxnLst/>
            <a:rect r="r" b="b" t="t" l="l"/>
            <a:pathLst>
              <a:path h="374650" w="374650">
                <a:moveTo>
                  <a:pt x="0" y="0"/>
                </a:moveTo>
                <a:lnTo>
                  <a:pt x="374650" y="0"/>
                </a:lnTo>
                <a:lnTo>
                  <a:pt x="374650" y="374650"/>
                </a:lnTo>
                <a:lnTo>
                  <a:pt x="0" y="3746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DAHYREcwMM4</dc:identifier>
  <dcterms:modified xsi:type="dcterms:W3CDTF">2011-08-01T06:04:30Z</dcterms:modified>
  <cp:revision>1</cp:revision>
  <dc:title>Blue and Purple Modern AI Solutions Presentation</dc:title>
</cp:coreProperties>
</file>